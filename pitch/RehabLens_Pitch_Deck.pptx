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214</c:v>
                </c:pt>
                <c:pt idx="2">
                  <c:v>894</c:v>
                </c:pt>
              </c:numCache>
            </c:numRef>
          </c:val>
        </c:ser>
        <c:dLbls>
          <c:numFmt formatCode="$#,##0K" sourceLinked="0"/>
          <c:txPr>
            <a:bodyPr/>
            <a:lstStyle/>
            <a:p>
              <a:pPr>
                <a:defRPr sz="1200">
                  <a:solidFill>
                    <a:srgbClr val="0F172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warmth and confidence. Judges decide in the first 30 seconds whether they care. Say the tagline slowly — it is the whole product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rubric rewards storytelling (20%). Spend the first minute on Maria — the person, not the tech. Then land the punchline: the therapist was blind between visits.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numbers judges will ask about. Know their sources cold: Argent 2018 (PMC5856927) for 50.8% non/low adherence; Physio-pedia for 50–65%; Grand View Research for the $52.3B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on step 2 — that is the invention. The words 'on-device' answer the privacy question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demo slide. In the live pitch, mirror a phone to the projector and let a judge move. The demo is an explainable approximation of the research scorer — say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is 30% of the score — spend real time here. Emphasize 'sequence-aware': a static angle is a photo; we compare motion like a clinician's eye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left to right in under 30 seconds. Emphasize visibility flags — it is our built-in answer to 'what if it can't see the joint?'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Bottom-up, conservative numbers beat top-down fantasy. The SOM is under 1.5% of SAM — deliberately, and judges respect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Marketing is 20% of the rubric. The RTM hook is the sharpest weapon here: the customer's ROI is arithmetic, not hope. Know 98975 ≈ $21.71 setup, 98976/98977 ≈ $22–54/mo.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trash competitors — respect them and position against their channel choice. The enterprise players went to employers; 40k independent clinics are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Financials are 10% of the rubric — be sane, not fancy. The LTV:CAC ≈ 11 line lands the efficiency story; admit the model becomes venture-scale only via the future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anti-objection slide. Saying 'we know where it fails' reads as engineering maturity and preempts the hardest judge question. Deliver it calmly — it's a strength, not a confession.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ask with specificity: a named person, a small number, one introduction. Judges are investors in spirit — a vague ask loses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mission line and stop. Leave time for the demo — the deck's last slide is the phone in your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B8A6"/>
                </a:solidFill>
                <a:latin typeface="Calibri"/>
              </a:rPr>
              <a:t>CONRAD CHALLENGE  ·  HEALTH &amp;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FFFFFF"/>
                </a:solidFill>
                <a:latin typeface="Calibri"/>
              </a:rPr>
              <a:t>RehabLens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99F6E4"/>
                </a:solidFill>
                <a:latin typeface="Calibri"/>
              </a:rPr>
              <a:t>Your physical therapist's eyes at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BD5E1"/>
                </a:solidFill>
                <a:latin typeface="Calibri"/>
              </a:rPr>
              <a:t>AI form-coach that scores home exercise video against the therapist's expert reference —
live, on any phone, with no wearables.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Team: [name] · [name] · [name]     Coach: [name]     github.com/pumaduma/RehabLens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MOMENT THAT STARTED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Maria did everything right — and nobody saw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Maria is 63. Three weeks after knee-replacement surgery, she does her six home exercises every single day. 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But nobody can see that her knee drifts inward on every squat — and that she never quite bends it to the angle the therapist asked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6949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4748B"/>
                </a:solidFill>
                <a:latin typeface="Calibri"/>
              </a:rPr>
              <a:t>At her follow-up visit, the therapist is puzzled: range of motion has stalled. A recovery that should take 8 weeks will now take 14.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4748B"/>
                </a:solidFill>
                <a:latin typeface="Calibri"/>
              </a:rPr>
              <a:t>It happened three feet from a camera lens, every day. </a:t>
            </a:r>
            <a:r>
              <a:rPr sz="2000" b="1" i="0">
                <a:solidFill>
                  <a:srgbClr val="0D9488"/>
                </a:solidFill>
                <a:latin typeface="Calibri"/>
              </a:rPr>
              <a:t>The therapist was blind between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993392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6 weeks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
of unsupervised exercise between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4612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410712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D9488"/>
                </a:solidFill>
                <a:latin typeface="Calibri"/>
              </a:rPr>
              <a:t>0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
ways for the therapist to see her form at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6344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28032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97316"/>
                </a:solidFill>
                <a:latin typeface="Calibri"/>
              </a:rPr>
              <a:t>+6 weeks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
of added recovery time, pain, and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Between visits, recovery has no witness.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D9488"/>
                </a:solidFill>
                <a:latin typeface="Calibri"/>
              </a:rPr>
              <a:t>35%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of PT patients fully adhere to their home exercise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97316"/>
                </a:solidFill>
                <a:latin typeface="Calibri"/>
              </a:rPr>
              <a:t>50–70%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don't do their exercises correctly — or at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5740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F172A"/>
                </a:solidFill>
                <a:latin typeface="Calibri"/>
              </a:rPr>
              <a:t>$52B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U.S. physical-therapy market, growing ~5–10% a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0F172A"/>
                </a:solidFill>
                <a:latin typeface="Calibri"/>
              </a:rPr>
              <a:t>The blind spot.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Therapists prescribe a home exercise program after nearly every injury and surgery — the most important part of recovery. But between weekly visits they see nothing: no video, no angles, no data.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0F172A"/>
                </a:solidFill>
                <a:latin typeface="Calibri"/>
              </a:rPr>
              <a:t>Silent errors compound.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Even motivated patients move with reduced range, knee valgus, or compensation patterns. The therapist discovers it weeks later — when recovery has already lengthened.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Sources: Argent et al. 2018 · Physio-pedia · Grand View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RehabLens: a form coach in every pocket.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29000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880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4B8A6"/>
                </a:solidFill>
                <a:latin typeface="Calibri"/>
              </a:rPr>
              <a:t>1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Film</a:t>
            </a:r>
          </a:p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E2E8F0"/>
                </a:solidFill>
                <a:latin typeface="Calibri"/>
              </a:rPr>
              <a:t>Patient films their exercise with any phone camera. Nothing to wear, strap on, or charge.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429000" cy="265176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03120"/>
            <a:ext cx="2880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CCFBF1"/>
                </a:solidFill>
                <a:latin typeface="Calibri"/>
              </a:rPr>
              <a:t>2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Score</a:t>
            </a:r>
          </a:p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E2E8F0"/>
                </a:solidFill>
                <a:latin typeface="Calibri"/>
              </a:rPr>
              <a:t>On-device AI tracks their joints and scores the motion against the therapist's expert reference — with live coaching cues.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29000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880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4B8A6"/>
                </a:solidFill>
                <a:latin typeface="Calibri"/>
              </a:rPr>
              <a:t>3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E2E8F0"/>
                </a:solidFill>
                <a:latin typeface="Calibri"/>
              </a:rPr>
              <a:t>Every session becomes a progress report: range of motion, reps, scores, trends — for patient and therapist.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172A"/>
                </a:solidFill>
                <a:latin typeface="Calibri"/>
              </a:rPr>
              <a:t>The result: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patients get a coach at home; therapists get eyes between visits; clinics get billable monitoring. And because it runs on-device, </a:t>
            </a:r>
            <a:r>
              <a:rPr sz="1700" b="1" i="0">
                <a:solidFill>
                  <a:srgbClr val="0D9488"/>
                </a:solidFill>
                <a:latin typeface="Calibri"/>
              </a:rPr>
              <a:t>no video ever leaves the phone.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SHOW, DON'T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Judges can try it right now — on their own phones.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D9488"/>
                </a:solidFill>
                <a:latin typeface="Calibri"/>
              </a:rPr>
              <a:t>✔  Live pose tracking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33 landmarks, on-device, any phone camera</a:t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D9488"/>
                </a:solidFill>
                <a:latin typeface="Calibri"/>
              </a:rPr>
              <a:t>✔  Digital goniometry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live knee, hip, shoulder, elbow angles</a:t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D9488"/>
                </a:solidFill>
                <a:latin typeface="Calibri"/>
              </a:rPr>
              <a:t>✔  Movement Score 0–100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depth, symmetry, and tempo per rep</a:t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D9488"/>
                </a:solidFill>
                <a:latin typeface="Calibri"/>
              </a:rPr>
              <a:t>✔  Coaching cues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“go deeper — target ≤ 95°, you're at 118°”</a:t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D9488"/>
                </a:solidFill>
                <a:latin typeface="Calibri"/>
              </a:rPr>
              <a:t>✔  5 exercises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knee extension, sit-to-stand, bridge, shoulder, curl</a:t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D9488"/>
                </a:solidFill>
                <a:latin typeface="Calibri"/>
              </a:rPr>
              <a:t>✔  Session report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what the therapist will see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23560"/>
            <a:ext cx="4480560" cy="50292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Try it: repo Settings → Pages → /demo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83080"/>
            <a:ext cx="4846320" cy="4480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2011680"/>
            <a:ext cx="4389120" cy="2743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4B8A6"/>
                </a:solidFill>
                <a:latin typeface="Calibri"/>
              </a:rPr>
              <a:t>🔎  LIVE  ·  Seated Knee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834640"/>
            <a:ext cx="45720" cy="1188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3977639"/>
            <a:ext cx="45720" cy="5029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4434840"/>
            <a:ext cx="502920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892040"/>
            <a:ext cx="4114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Movement Score  </a:t>
            </a:r>
            <a:r>
              <a:rPr sz="3000" b="1" i="0">
                <a:solidFill>
                  <a:srgbClr val="14B8A6"/>
                </a:solidFill>
                <a:latin typeface="Calibri"/>
              </a:rPr>
              <a:t>94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CBD5E1"/>
                </a:solidFill>
                <a:latin typeface="Calibri"/>
              </a:rPr>
              <a:t>Reps  8      Angle now  62°      ROM  18–96°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We score the movement sequence — not a snapshot.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035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Today's tools count reps or measure one static angle. 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F172A"/>
                </a:solidFill>
                <a:latin typeface="Calibri"/>
              </a:rPr>
              <a:t>RehabLens encodes the </a:t>
            </a:r>
            <a:r>
              <a:rPr sz="1700" b="1" i="0">
                <a:solidFill>
                  <a:srgbClr val="0D9488"/>
                </a:solidFill>
                <a:latin typeface="Calibri"/>
              </a:rPr>
              <a:t>entire motion sequence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— patient and expert reference — into the same embedding space with a Siamese bidirectional LSTM, then scores similarity.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64748B"/>
                </a:solidFill>
                <a:latin typeface="Calibri"/>
              </a:rPr>
              <a:t>The score captures depth, timing, coordination, and compensation patterns — not just “did the knee reach 90°.”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4023360" cy="4023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9659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Prototype validation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2423160"/>
          <a:ext cx="365760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15087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Bridge vs bridge (same movement)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99.5 / 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Bridge vs squat (negative control)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0.0 / 100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Augmented-pair accuracy (20 clips, 12 movements)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Five stages, one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9202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F172A"/>
                </a:solidFill>
                <a:latin typeface="Calibri"/>
              </a:rPr>
              <a:t>Patient video
+ expert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606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D9488"/>
                </a:solidFill>
                <a:latin typeface="Calibri"/>
              </a:rPr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011680"/>
            <a:ext cx="1920240" cy="16002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F172A"/>
                </a:solidFill>
                <a:latin typeface="Calibri"/>
              </a:rPr>
              <a:t>YOLO Pose
17 landmarks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76" y="2606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D9488"/>
                </a:solidFill>
                <a:latin typeface="Calibri"/>
              </a:rP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31536" y="2011680"/>
            <a:ext cx="1920240" cy="16002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F172A"/>
                </a:solidFill>
                <a:latin typeface="Calibri"/>
              </a:rPr>
              <a:t>Joint angles
hip · knee · thigh · shin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0064" y="2606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D9488"/>
                </a:solidFill>
                <a:latin typeface="Calibri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2011680"/>
            <a:ext cx="1920240" cy="1600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Siamese bi-LSTM
motion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2606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D9488"/>
                </a:solidFill>
                <a:latin typeface="Calibri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40112" y="2011680"/>
            <a:ext cx="1920240" cy="1600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Cosine similarity
0–100 Movement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1051560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6052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Explainable by design. 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Alongside the score we show side-by-side skeleton video, aligned angle curves, and a plain-language report — so a therapist can see </a:t>
            </a:r>
            <a:r>
              <a:rPr sz="1550" b="0" i="1">
                <a:solidFill>
                  <a:srgbClr val="0F172A"/>
                </a:solidFill>
                <a:latin typeface="Calibri"/>
              </a:rPr>
              <a:t>why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 the score moved, not just that it moved.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Honest about 2D. 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Every frame carries joint-visibility confidence; occluded joints are excluded from scoring, never guessed at. The model is trained with simulated occlusions on purpose.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A $52B market with a software layer still being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TAM — U.S. physical-therapy services</a:t>
            </a:r>
            <a:r>
              <a:rPr sz="1250" b="0" i="0">
                <a:solidFill>
                  <a:srgbClr val="CBD5E1"/>
                </a:solidFill>
                <a:latin typeface="Calibri"/>
              </a:rPr>
              <a:t>
$52.3B (2025) → $76.6B (2033), 4.9% CAGR · Grand View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2140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$52.3B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3063240"/>
            <a:ext cx="9784080" cy="105156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172968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SAM — digital HEP / monitoring software for outpatient clinics</a:t>
            </a:r>
            <a:r>
              <a:rPr sz="1250" b="0" i="0">
                <a:solidFill>
                  <a:srgbClr val="CCFBF1"/>
                </a:solidFill>
                <a:latin typeface="Calibri"/>
              </a:rPr>
              <a:t>
≈40,000 U.S. outpatient orthopedic clinics × ~$1,788/yr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35584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≈ $72M ARR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297680"/>
            <a:ext cx="9052560" cy="105156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4407408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SOM — our year-3 target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
500 paying clinics ≈ 1.2% of SAM — a deliberately small, credible beachhead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59028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0D9488"/>
                </a:solidFill>
                <a:latin typeface="Calibri"/>
              </a:rPr>
              <a:t>≈ $894K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Adjacent upside (not counted): white-label to telehealth platforms · insurer outcome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Clinics pay. Patients don't. Reimbursement pays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6492240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9728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Includes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  <a:latin typeface="Calibri"/>
                        </a:rPr>
                        <a:t>Clinic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Calibri"/>
                        </a:rPr>
                        <a:t>$149 / 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Calibri"/>
                        </a:rPr>
                        <a:t>Unlimited patients · 3 therapist seats · dashboard + patient 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  <a:latin typeface="Calibri"/>
                        </a:rPr>
                        <a:t>Therapist seat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Calibri"/>
                        </a:rPr>
                        <a:t>$59 / mo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Calibri"/>
                        </a:rPr>
                        <a:t>Additional therapist on the same clinic account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  <a:latin typeface="Calibri"/>
                        </a:rPr>
                        <a:t>RTM Pro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Calibri"/>
                        </a:rPr>
                        <a:t>$249 / 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Calibri"/>
                        </a:rPr>
                        <a:t>Auto-generated documentation for Medicare remote-monitoring billing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828800"/>
            <a:ext cx="3840480" cy="28346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011680"/>
            <a:ext cx="33832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Why clinics say yes</a:t>
            </a:r>
          </a:p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E2E8F0"/>
                </a:solidFill>
                <a:latin typeface="Calibri"/>
              </a:rPr>
              <a:t>One monitored Medicare patient earns the clinic </a:t>
            </a:r>
            <a:r>
              <a:rPr sz="1500" b="1" i="0">
                <a:solidFill>
                  <a:srgbClr val="14B8A6"/>
                </a:solidFill>
                <a:latin typeface="Calibri"/>
              </a:rPr>
              <a:t>~$19–$54/month</a:t>
            </a:r>
            <a:r>
              <a:rPr sz="1450" b="0" i="0">
                <a:solidFill>
                  <a:srgbClr val="E2E8F0"/>
                </a:solidFill>
                <a:latin typeface="Calibri"/>
              </a:rPr>
              <a:t> in Remote Therapeutic Monitoring codes (98975/98977).</a:t>
            </a:r>
          </a:p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E2E8F0"/>
                </a:solidFill>
                <a:latin typeface="Calibri"/>
              </a:rPr>
              <a:t>The software pays for itself after 1–3 monitored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09160"/>
            <a:ext cx="1060704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10149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Why now: 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telehealth PT utilization is structurally higher post-COVID, and the 2026 CMS therapy code list expanded remote-monitoring billing. The reimbursement tailwind is our “who pays, and why today”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Everyone tracks completion. We score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599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749039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What they do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Where RehabLens wins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Sword Health / Hinge Health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Digital MSK for self-insured employers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Hardware-free, open, priced for independent clinics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Kaia Health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Guided exercise video apps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Objective movement-quality scoring from a plain camera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Physitrack / Medbridge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Prescribe &amp; track exercise completion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Track quality, not just “done”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Wearable motion sensors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Rep counting with extra hardware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Zero hardware cost and friction; visual form feedback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1206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218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Positioning: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“The quality layer that existing home-exercise platforms are missing — sequence-aware, camera-based, and priced for the independent clinic.”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Sane unit economics and an honest three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42062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Unit economics (per clinic, steady state)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Revenue — clinic subscription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$149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Hosting + inference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$8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Support &amp; onboarding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$10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Payments / processing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$5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≈ 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77840" y="1828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Annual recurring revenue (end of year)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577840" y="2240280"/>
          <a:ext cx="59436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4709160"/>
            <a:ext cx="1060704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46320"/>
            <a:ext cx="10149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Assumptions: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pricing held flat; 10%/yr churn; no founder salaries in years 1–2; 20 clinics by year 1, 120 by year 2, 500 by year 3. CAC ≈ $400/clinic → ~3-month payback, LTV:CAC ≈ 11. All subscription revenue — white-label and insurer channels are roadmap upside, not forecast.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SAFETY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We turn our limitations into our safety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4114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6177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RehabLens is NOT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2E8F0"/>
                </a:solidFill>
                <a:latin typeface="Calibri"/>
              </a:rPr>
              <a:t>✕  Not a medical device
✕  Not a diagnosis or prescription
✕  Not proof an exercise is safe
✕  Not a substitute for a physical therapist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120640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B8A6"/>
                </a:solidFill>
                <a:latin typeface="Calibri"/>
              </a:rPr>
              <a:t>Scores are “check with your therapist” flags —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never advice to push through pain.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828800"/>
          <a:ext cx="52578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Known limitation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Our mitigation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2D camera: depth ambiguity, occlusion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Confidence-gated scoring — uncertain joints are excluded, never guessed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Trained on one demonstrator today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Consented multi-participant dataset, participant-split validation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Form feedback could mislead a patient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Fail-soft design: unclear view → “no score”, never wrong advice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Privacy risk from video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On-device processing; only anonymized metrics reach the clinic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Reimbursement rules vary by payer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RTM tier ships with billing documentation; validated by a pilot clinic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26480" y="5349240"/>
            <a:ext cx="5257800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D9488"/>
                </a:solidFill>
                <a:latin typeface="Calibri"/>
              </a:rPr>
              <a:t>Validation target: Cohen's κ ≥ 0.6 vs clinician labels before pilot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ROADMAP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Twelve months from prototype to pilot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148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9488"/>
                </a:solidFill>
                <a:latin typeface="Calibri"/>
              </a:rPr>
              <a:t>M 0–3</a:t>
            </a:r>
          </a:p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0F172A"/>
                </a:solidFill>
                <a:latin typeface="Calibri"/>
              </a:rPr>
              <a:t>Evidence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Pilot clinic partner; first consented multi-participant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148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9488"/>
                </a:solidFill>
                <a:latin typeface="Calibri"/>
              </a:rPr>
              <a:t>M 4–8</a:t>
            </a:r>
          </a:p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0F172A"/>
                </a:solidFill>
                <a:latin typeface="Calibri"/>
              </a:rPr>
              <a:t>Validation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Participant-split retrain; report κ vs clinician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148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 9–12</a:t>
            </a:r>
          </a:p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Pilot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2E8F0"/>
                </a:solidFill>
                <a:latin typeface="Calibri"/>
              </a:rPr>
              <a:t>2-clinic, 3-month pilot; measure adherence &amp; ROM deltas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011680"/>
            <a:ext cx="2148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B8A6"/>
                </a:solidFill>
                <a:latin typeface="Calibri"/>
              </a:rPr>
              <a:t>M 12–24</a:t>
            </a:r>
          </a:p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Launch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2E8F0"/>
                </a:solidFill>
                <a:latin typeface="Calibri"/>
              </a:rPr>
              <a:t>$149/mo commercial tier; target 120 paying clinics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105156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172A"/>
                </a:solidFill>
                <a:latin typeface="Calibri"/>
              </a:rPr>
              <a:t>What we need from you: 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1) One physical therapist to critique our scoring — 30 minutes.   2) $5–10K for compute, HIPAA-capable hosting, and pilot materials.   3) Introductions to a local outpatient clinic.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RehabLens · Conrad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 recovery deserves eyes between visits.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RehabLens gives every physical-therapy patient a coach at home — with nothing but the camera they already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99F6E4"/>
                </a:solidFill>
                <a:latin typeface="Calibri"/>
              </a:rPr>
              <a:t>Try the live demo: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pumaduma.github.io/RehabLens  (live demo)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Prototype: YOLO Pose + Siamese LSTM · 94.2% augmented-pair accuracy · MIT-licensed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BD5E1"/>
                </a:solidFill>
                <a:latin typeface="Calibri"/>
              </a:rPr>
              <a:t>Thank you.   — [Team names], Health &amp; Nutrition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