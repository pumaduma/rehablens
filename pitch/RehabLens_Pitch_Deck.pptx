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ARR</c:v>
                </c:pt>
              </c:strCache>
            </c:strRef>
          </c:tx>
          <c:spPr>
            <a:solidFill>
              <a:srgbClr val="0D9488"/>
            </a:solidFill>
          </c:spPr>
          <c:cat>
            <c:strRef>
              <c:f>Sheet1!$A$2:$A$4</c:f>
              <c:strCache>
                <c:ptCount val="3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</c:v>
                </c:pt>
                <c:pt idx="1">
                  <c:v>214</c:v>
                </c:pt>
                <c:pt idx="2">
                  <c:v>894</c:v>
                </c:pt>
              </c:numCache>
            </c:numRef>
          </c:val>
        </c:ser>
        <c:dLbls>
          <c:numFmt formatCode="$#,##0K" sourceLinked="0"/>
          <c:txPr>
            <a:bodyPr/>
            <a:lstStyle/>
            <a:p>
              <a:pPr>
                <a:defRPr sz="1200">
                  <a:solidFill>
                    <a:srgbClr val="0F172A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warmth and confidence. Judges decide in the first 30 seconds whether they care. Say the tagline slowly — it is the whole product in one sentence.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rubric rewards storytelling (20%). Spend the first minute on Maria — the person, not the tech. Then land the punchline: the therapist was blind between visits.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three numbers judges will ask about. Know their sources cold: Argent 2018 (PMC5856927) for 50.8% non/low adherence; Physio-pedia for 50–65%; Grand View Research for the $52.3B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on step 2 — that is the invention. The words 'on-device' answer the privacy question before it is asked.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demo slide. In the live pitch, mirror a phone to the projector and let a judge move. The demo is an explainable approximation of the research scorer — say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Innovation is 30% of the score — spend real time here. Emphasize 'sequence-aware': a static angle is a photo; we compare motion like a clinician's eye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pipeline left to right in under 30 seconds. Emphasize visibility flags — it is our built-in answer to 'what if it can't see the joint?'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Bottom-up, conservative numbers beat top-down fantasy. The SOM is under 1.5% of SAM — deliberately, and judges respect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is 20% of the rubric. The RTM hook is the sharpest weapon here: the customer's ROI is arithmetic, not hope. Know 98975 ≈ $21.71 setup, 98976/98977 ≈ $22–54/mo.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trash competitors — respect them and position against their channel choice. The enterprise players went to employers; 40k independent clinics are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Financials are 10% of the rubric — be sane, not fancy. The LTV:CAC ≈ 11 line lands the efficiency story; admit the model becomes venture-scale only via the future channels.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anti-objection slide. Saying 'we know where it fails' reads as engineering maturity and preempts the hardest judge question. Deliver it calmly — it's a strength, not a confession.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ask with specificity: a named person, a small number, one introduction. Judges are investors in spirit — a vague ask loses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mission line and stop. Leave time for the demo — the deck's last slide is the phone in your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4B8A6"/>
                </a:solidFill>
                <a:latin typeface="Calibri"/>
              </a:rPr>
              <a:t>CONRAD CHALLENGE  ·  HEALTH &amp; NUTRITION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 i="0">
                <a:solidFill>
                  <a:srgbClr val="FFFFFF"/>
                </a:solidFill>
                <a:latin typeface="Calibri"/>
              </a:rPr>
              <a:t>RehabLens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0">
                <a:solidFill>
                  <a:srgbClr val="99F6E4"/>
                </a:solidFill>
                <a:latin typeface="Calibri"/>
              </a:rPr>
              <a:t>Your physical therapist's eyes at home.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80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 i="0">
                <a:solidFill>
                  <a:srgbClr val="CBD5E1"/>
                </a:solidFill>
                <a:latin typeface="Calibri"/>
              </a:rPr>
              <a:t>AI form-coach that scores home exercise video against the therapist's expert reference —
live, on any phone, with no wearables.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94A3B8"/>
                </a:solidFill>
                <a:latin typeface="Calibri"/>
              </a:rPr>
              <a:t>Team: [name] · [name] · [name]     Coach: [name]     github.com/alicialiu540-oss/Conrad-project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THE MOMENT THAT STARTED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Maria did everything right — and nobody saw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9494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F172A"/>
                </a:solidFill>
                <a:latin typeface="Calibri"/>
              </a:rPr>
              <a:t>Maria is 63. Three weeks after knee-replacement surgery, she does her six home exercises every single day. </a:t>
            </a:r>
          </a:p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0F172A"/>
                </a:solidFill>
                <a:latin typeface="Calibri"/>
              </a:rPr>
              <a:t>But nobody can see that her knee drifts inward on every squat — and that she never quite bends it to the angle the therapist asked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6949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4748B"/>
                </a:solidFill>
                <a:latin typeface="Calibri"/>
              </a:rPr>
              <a:t>At her follow-up visit, the therapist is puzzled: range of motion has stalled. A recovery that should take 8 weeks will now take 14.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64748B"/>
                </a:solidFill>
                <a:latin typeface="Calibri"/>
              </a:rPr>
              <a:t>It happened three feet from a camera lens, every day. </a:t>
            </a:r>
            <a:r>
              <a:rPr sz="2000" b="1" i="0">
                <a:solidFill>
                  <a:srgbClr val="0D9488"/>
                </a:solidFill>
                <a:latin typeface="Calibri"/>
              </a:rPr>
              <a:t>The therapist was blind between visits.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828800"/>
            <a:ext cx="3200400" cy="11887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199339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6 weeks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BD5E1"/>
                </a:solidFill>
                <a:latin typeface="Calibri"/>
              </a:rPr>
              <a:t>
of unsupervised exercise between visits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246120"/>
            <a:ext cx="3200400" cy="118872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41071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D9488"/>
                </a:solidFill>
                <a:latin typeface="Calibri"/>
              </a:rPr>
              <a:t>0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
ways for the therapist to see her form at home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663440"/>
            <a:ext cx="3200400" cy="118872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48280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97316"/>
                </a:solidFill>
                <a:latin typeface="Calibri"/>
              </a:rPr>
              <a:t>+6 weeks</a:t>
            </a:r>
          </a:p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0F172A"/>
                </a:solidFill>
                <a:latin typeface="Calibri"/>
              </a:rPr>
              <a:t>
of added recovery time, pain, and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Between visits, recovery has no witness.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57400"/>
            <a:ext cx="2971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D9488"/>
                </a:solidFill>
                <a:latin typeface="Calibri"/>
              </a:rPr>
              <a:t>35%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4748B"/>
                </a:solidFill>
                <a:latin typeface="Calibri"/>
              </a:rPr>
              <a:t>of PT patients fully adhere to their home exercise program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057400"/>
            <a:ext cx="2971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97316"/>
                </a:solidFill>
                <a:latin typeface="Calibri"/>
              </a:rPr>
              <a:t>50–70%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4748B"/>
                </a:solidFill>
                <a:latin typeface="Calibri"/>
              </a:rPr>
              <a:t>don't do their exercises correctly — or at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429000" cy="18288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057400"/>
            <a:ext cx="2971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F172A"/>
                </a:solidFill>
                <a:latin typeface="Calibri"/>
              </a:rPr>
              <a:t>$52B</a:t>
            </a:r>
          </a:p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4748B"/>
                </a:solidFill>
                <a:latin typeface="Calibri"/>
              </a:rPr>
              <a:t>U.S. physical-therapy market, growing ~5–10% a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14800"/>
            <a:ext cx="10515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0F172A"/>
                </a:solidFill>
                <a:latin typeface="Calibri"/>
              </a:rPr>
              <a:t>The blind spot. </a:t>
            </a:r>
            <a:r>
              <a:rPr sz="1700" b="0" i="0">
                <a:solidFill>
                  <a:srgbClr val="0F172A"/>
                </a:solidFill>
                <a:latin typeface="Calibri"/>
              </a:rPr>
              <a:t>Therapists prescribe a home exercise program after nearly every injury and surgery — the most important part of recovery. But between weekly visits they see nothing: no video, no angles, no data.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900" b="1" i="0">
                <a:solidFill>
                  <a:srgbClr val="0F172A"/>
                </a:solidFill>
                <a:latin typeface="Calibri"/>
              </a:rPr>
              <a:t>Silent errors compound. </a:t>
            </a:r>
            <a:r>
              <a:rPr sz="1700" b="0" i="0">
                <a:solidFill>
                  <a:srgbClr val="0F172A"/>
                </a:solidFill>
                <a:latin typeface="Calibri"/>
              </a:rPr>
              <a:t>Even motivated patients move with reduced range, knee valgus, or compensation patterns. The therapist discovers it weeks later — when recovery has already lengthened.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806440"/>
            <a:ext cx="475488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0">
                <a:solidFill>
                  <a:srgbClr val="64748B"/>
                </a:solidFill>
                <a:latin typeface="Calibri"/>
              </a:rPr>
              <a:t>Sources: Argent et al. 2018 · Physio-pedia · Grand View Research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RehabLens: a form coach in every pocket.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03120"/>
            <a:ext cx="2880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14B8A6"/>
                </a:solidFill>
                <a:latin typeface="Calibri"/>
              </a:rPr>
              <a:t>1</a:t>
            </a:r>
          </a:p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Film</a:t>
            </a:r>
          </a:p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E2E8F0"/>
                </a:solidFill>
                <a:latin typeface="Calibri"/>
              </a:rPr>
              <a:t>Patient films their exercise with any phone camera. Nothing to wear, strap on, or charge.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182880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103120"/>
            <a:ext cx="2880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CCFBF1"/>
                </a:solidFill>
                <a:latin typeface="Calibri"/>
              </a:rPr>
              <a:t>2</a:t>
            </a:r>
          </a:p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Score</a:t>
            </a:r>
          </a:p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E2E8F0"/>
                </a:solidFill>
                <a:latin typeface="Calibri"/>
              </a:rPr>
              <a:t>On-device AI tracks their joints and scores the motion against the therapist's expert reference — with live coaching cues.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828800"/>
            <a:ext cx="3429000" cy="2651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2103120"/>
            <a:ext cx="288036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>
                <a:solidFill>
                  <a:srgbClr val="14B8A6"/>
                </a:solidFill>
                <a:latin typeface="Calibri"/>
              </a:rPr>
              <a:t>3</a:t>
            </a:r>
          </a:p>
          <a:p>
            <a:pPr algn="l">
              <a:lnSpc>
                <a:spcPct val="112000"/>
              </a:lnSpc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Report</a:t>
            </a:r>
          </a:p>
          <a:p>
            <a:pPr algn="l">
              <a:lnSpc>
                <a:spcPct val="112000"/>
              </a:lnSpc>
            </a:pPr>
            <a:r>
              <a:rPr sz="1450" b="0" i="0">
                <a:solidFill>
                  <a:srgbClr val="E2E8F0"/>
                </a:solidFill>
                <a:latin typeface="Calibri"/>
              </a:rPr>
              <a:t>Every session becomes a progress report: range of motion, reps, scores, trends — for patient and therapist.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8920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F172A"/>
                </a:solidFill>
                <a:latin typeface="Calibri"/>
              </a:rPr>
              <a:t>The result: </a:t>
            </a:r>
            <a:r>
              <a:rPr sz="1700" b="0" i="0">
                <a:solidFill>
                  <a:srgbClr val="0F172A"/>
                </a:solidFill>
                <a:latin typeface="Calibri"/>
              </a:rPr>
              <a:t>patients get a coach at home; therapists get eyes between visits; clinics get billable monitoring. And because it runs on-device, </a:t>
            </a:r>
            <a:r>
              <a:rPr sz="1700" b="1" i="0">
                <a:solidFill>
                  <a:srgbClr val="0D9488"/>
                </a:solidFill>
                <a:latin typeface="Calibri"/>
              </a:rPr>
              <a:t>no video ever leaves the phone.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SHOW, DON'T TELL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Judges can try it right now — on their own phones.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12064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0D9488"/>
                </a:solidFill>
                <a:latin typeface="Calibri"/>
              </a:rPr>
              <a:t>✔  Live pose tracking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 — 33 landmarks, on-device, any phone camera</a:t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0D9488"/>
                </a:solidFill>
                <a:latin typeface="Calibri"/>
              </a:rPr>
              <a:t>✔  Digital goniometry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 — live knee, hip, shoulder, elbow angles</a:t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0D9488"/>
                </a:solidFill>
                <a:latin typeface="Calibri"/>
              </a:rPr>
              <a:t>✔  Movement Score 0–100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 — depth, symmetry, and tempo per rep</a:t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0D9488"/>
                </a:solidFill>
                <a:latin typeface="Calibri"/>
              </a:rPr>
              <a:t>✔  Coaching cues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 — “go deeper — target ≤ 95°, you're at 118°”</a:t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0D9488"/>
                </a:solidFill>
                <a:latin typeface="Calibri"/>
              </a:rPr>
              <a:t>✔  5 exercises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 — knee extension, sit-to-stand, bridge, shoulder, curl</a:t>
            </a:r>
          </a:p>
          <a:p>
            <a:pPr algn="l">
              <a:lnSpc>
                <a:spcPct val="135000"/>
              </a:lnSpc>
            </a:pPr>
            <a:r>
              <a:rPr sz="1700" b="1" i="0">
                <a:solidFill>
                  <a:srgbClr val="0D9488"/>
                </a:solidFill>
                <a:latin typeface="Calibri"/>
              </a:rPr>
              <a:t>✔  Session report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 — what the therapist will see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623560"/>
            <a:ext cx="4480560" cy="50292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Try it: repo Settings → Pages → /demo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783080"/>
            <a:ext cx="4846320" cy="4480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12280" y="2011680"/>
            <a:ext cx="4389120" cy="27432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210312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14B8A6"/>
                </a:solidFill>
                <a:latin typeface="Calibri"/>
              </a:rPr>
              <a:t>🔎  LIVE  ·  Seated Knee Extension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834640"/>
            <a:ext cx="45720" cy="1188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63840" y="3977639"/>
            <a:ext cx="45720" cy="5029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3840" y="4434840"/>
            <a:ext cx="502920" cy="45720"/>
          </a:xfrm>
          <a:prstGeom prst="rect">
            <a:avLst/>
          </a:prstGeom>
          <a:solidFill>
            <a:srgbClr val="5E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4892040"/>
            <a:ext cx="4114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Movement Score  </a:t>
            </a:r>
            <a:r>
              <a:rPr sz="3000" b="1" i="0">
                <a:solidFill>
                  <a:srgbClr val="14B8A6"/>
                </a:solidFill>
                <a:latin typeface="Calibri"/>
              </a:rPr>
              <a:t>94</a:t>
            </a:r>
          </a:p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CBD5E1"/>
                </a:solidFill>
                <a:latin typeface="Calibri"/>
              </a:rPr>
              <a:t>Reps  8      Angle now  62°      ROM  18–96°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THE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We score the movement sequence — not a snapshot.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60350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F172A"/>
                </a:solidFill>
                <a:latin typeface="Calibri"/>
              </a:rPr>
              <a:t>Today's tools count reps or measure one static angle. </a:t>
            </a:r>
          </a:p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0F172A"/>
                </a:solidFill>
                <a:latin typeface="Calibri"/>
              </a:rPr>
              <a:t>RehabLens encodes the </a:t>
            </a:r>
            <a:r>
              <a:rPr sz="1700" b="1" i="0">
                <a:solidFill>
                  <a:srgbClr val="0D9488"/>
                </a:solidFill>
                <a:latin typeface="Calibri"/>
              </a:rPr>
              <a:t>entire motion sequence</a:t>
            </a:r>
            <a:r>
              <a:rPr sz="1700" b="0" i="0">
                <a:solidFill>
                  <a:srgbClr val="0F172A"/>
                </a:solidFill>
                <a:latin typeface="Calibri"/>
              </a:rPr>
              <a:t> — patient and expert reference — into the same embedding space with a Siamese bidirectional LSTM, then scores similarity.</a:t>
            </a:r>
          </a:p>
          <a:p>
            <a:pPr algn="l">
              <a:lnSpc>
                <a:spcPct val="120000"/>
              </a:lnSpc>
            </a:pPr>
            <a:r>
              <a:rPr sz="1700" b="0" i="0">
                <a:solidFill>
                  <a:srgbClr val="64748B"/>
                </a:solidFill>
                <a:latin typeface="Calibri"/>
              </a:rPr>
              <a:t>The score captures depth, timing, coordination, and compensation patterns — not just “did the knee reach 90°.”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828800"/>
            <a:ext cx="4023360" cy="40233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F172A"/>
                </a:solidFill>
                <a:latin typeface="Calibri"/>
              </a:rPr>
              <a:t>Prototype validation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98079" y="2423160"/>
          <a:ext cx="3657600" cy="2157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5087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Bridge vs bridge (same movement)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99.5 / 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Bridge vs squat (negative control)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0.0 / 100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Calibri"/>
                        </a:rPr>
                        <a:t>Augmented-pair accuracy (20 clips, 12 movements)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172A"/>
                          </a:solidFill>
                          <a:latin typeface="Calibri"/>
                        </a:rPr>
                        <a:t>94.2%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Five stages, one score.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1920240" cy="1600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Calibri"/>
              </a:rPr>
              <a:t>Patient video
+ expert reference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61488" y="260604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0D9488"/>
                </a:solidFill>
                <a:latin typeface="Calibri"/>
              </a:rPr>
              <a:t>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27248" y="2011680"/>
            <a:ext cx="1920240" cy="160020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Calibri"/>
              </a:rPr>
              <a:t>YOLO Pose
17 landmarks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5776" y="260604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0D9488"/>
                </a:solidFill>
                <a:latin typeface="Calibri"/>
              </a:rPr>
              <a:t>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31536" y="2011680"/>
            <a:ext cx="1920240" cy="160020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0F172A"/>
                </a:solidFill>
                <a:latin typeface="Calibri"/>
              </a:rPr>
              <a:t>Joint angles
hip · knee · thigh · shin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60604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0D9488"/>
                </a:solidFill>
                <a:latin typeface="Calibri"/>
              </a:rPr>
              <a:t>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35824" y="2011680"/>
            <a:ext cx="1920240" cy="1600200"/>
          </a:xfrm>
          <a:prstGeom prst="roundRect">
            <a:avLst>
              <a:gd name="adj" fmla="val 1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Siamese bi-LSTM
motion embeddings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74352" y="260604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 i="0">
                <a:solidFill>
                  <a:srgbClr val="0D9488"/>
                </a:solidFill>
                <a:latin typeface="Calibri"/>
              </a:rPr>
              <a:t>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40112" y="2011680"/>
            <a:ext cx="1920240" cy="160020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50" b="1">
                <a:solidFill>
                  <a:srgbClr val="FFFFFF"/>
                </a:solidFill>
                <a:latin typeface="Calibri"/>
              </a:rPr>
              <a:t>Cosine similarity
0–100 Movement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977639"/>
            <a:ext cx="10515600" cy="20116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60520"/>
            <a:ext cx="10058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F172A"/>
                </a:solidFill>
                <a:latin typeface="Calibri"/>
              </a:rPr>
              <a:t>Explainable by design. </a:t>
            </a:r>
            <a:r>
              <a:rPr sz="1550" b="0" i="0">
                <a:solidFill>
                  <a:srgbClr val="0F172A"/>
                </a:solidFill>
                <a:latin typeface="Calibri"/>
              </a:rPr>
              <a:t>Alongside the score we show side-by-side skeleton video, aligned angle curves, and a plain-language report — so a therapist can see </a:t>
            </a:r>
            <a:r>
              <a:rPr sz="1550" b="0" i="1">
                <a:solidFill>
                  <a:srgbClr val="0F172A"/>
                </a:solidFill>
                <a:latin typeface="Calibri"/>
              </a:rPr>
              <a:t>why</a:t>
            </a:r>
            <a:r>
              <a:rPr sz="1550" b="0" i="0">
                <a:solidFill>
                  <a:srgbClr val="0F172A"/>
                </a:solidFill>
                <a:latin typeface="Calibri"/>
              </a:rPr>
              <a:t> the score moved, not just that it moved.</a:t>
            </a:r>
          </a:p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F172A"/>
                </a:solidFill>
                <a:latin typeface="Calibri"/>
              </a:rPr>
              <a:t>Honest about 2D. </a:t>
            </a:r>
            <a:r>
              <a:rPr sz="1550" b="0" i="0">
                <a:solidFill>
                  <a:srgbClr val="0F172A"/>
                </a:solidFill>
                <a:latin typeface="Calibri"/>
              </a:rPr>
              <a:t>Every frame carries joint-visibility confidence; occluded joints are excluded from scoring, never guessed at. The model is trained with simulated occlusions on purpose.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A $52B market with a software layer still being built.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1051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TAM — U.S. physical-therapy services</a:t>
            </a:r>
            <a:r>
              <a:rPr sz="1250" b="0" i="0">
                <a:solidFill>
                  <a:srgbClr val="CBD5E1"/>
                </a:solidFill>
                <a:latin typeface="Calibri"/>
              </a:rPr>
              <a:t>
$52.3B (2025) → $76.6B (2033), 4.9% CAGR · Grand View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2121408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$52.3B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54480" y="3063240"/>
            <a:ext cx="9784080" cy="105156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3172968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Calibri"/>
              </a:rPr>
              <a:t>SAM — digital HEP / monitoring software for outpatient clinics</a:t>
            </a:r>
            <a:r>
              <a:rPr sz="1250" b="0" i="0">
                <a:solidFill>
                  <a:srgbClr val="CCFBF1"/>
                </a:solidFill>
                <a:latin typeface="Calibri"/>
              </a:rPr>
              <a:t>
≈40,000 U.S. outpatient orthopedic clinics × ~$1,788/yr subscription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38160" y="3355848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Calibri"/>
              </a:rPr>
              <a:t>≈ $72M ARR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297680"/>
            <a:ext cx="9052560" cy="105156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4407408"/>
            <a:ext cx="5943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0F172A"/>
                </a:solidFill>
                <a:latin typeface="Calibri"/>
              </a:rPr>
              <a:t>SOM — our year-3 target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
500 paying clinics ≈ 1.2% of SAM — a deliberately small, credible beachhead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4590288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3000" b="1" i="0">
                <a:solidFill>
                  <a:srgbClr val="0D9488"/>
                </a:solidFill>
                <a:latin typeface="Calibri"/>
              </a:rPr>
              <a:t>≈ $894K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778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4748B"/>
                </a:solidFill>
                <a:latin typeface="Calibri"/>
              </a:rPr>
              <a:t>Adjacent upside (not counted): white-label to telehealth platforms · insurer outcome partnerships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Clinics pay. Patients don't. Reimbursement pays for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6492240" cy="2432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09728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Includes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172A"/>
                          </a:solidFill>
                          <a:latin typeface="Calibri"/>
                        </a:rPr>
                        <a:t>Clinic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F172A"/>
                          </a:solidFill>
                          <a:latin typeface="Calibri"/>
                        </a:rPr>
                        <a:t>$149 / 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F172A"/>
                          </a:solidFill>
                          <a:latin typeface="Calibri"/>
                        </a:rPr>
                        <a:t>Unlimited patients · 3 therapist seats · dashboard + patient app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172A"/>
                          </a:solidFill>
                          <a:latin typeface="Calibri"/>
                        </a:rPr>
                        <a:t>Therapist seat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F172A"/>
                          </a:solidFill>
                          <a:latin typeface="Calibri"/>
                        </a:rPr>
                        <a:t>$59 / mo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F172A"/>
                          </a:solidFill>
                          <a:latin typeface="Calibri"/>
                        </a:rPr>
                        <a:t>Additional therapist on the same clinic account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0F172A"/>
                          </a:solidFill>
                          <a:latin typeface="Calibri"/>
                        </a:rPr>
                        <a:t>RTM Pro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F172A"/>
                          </a:solidFill>
                          <a:latin typeface="Calibri"/>
                        </a:rPr>
                        <a:t>$249 / mo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0F172A"/>
                          </a:solidFill>
                          <a:latin typeface="Calibri"/>
                        </a:rPr>
                        <a:t>Auto-generated documentation for Medicare remote-monitoring billing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589520" y="1828800"/>
            <a:ext cx="3840480" cy="28346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2011680"/>
            <a:ext cx="3383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Calibri"/>
              </a:rPr>
              <a:t>Why clinics say yes</a:t>
            </a:r>
          </a:p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E2E8F0"/>
                </a:solidFill>
                <a:latin typeface="Calibri"/>
              </a:rPr>
              <a:t>One monitored Medicare patient earns the clinic </a:t>
            </a:r>
            <a:r>
              <a:rPr sz="1500" b="1" i="0">
                <a:solidFill>
                  <a:srgbClr val="14B8A6"/>
                </a:solidFill>
                <a:latin typeface="Calibri"/>
              </a:rPr>
              <a:t>~$19–$54/month</a:t>
            </a:r>
            <a:r>
              <a:rPr sz="1450" b="0" i="0">
                <a:solidFill>
                  <a:srgbClr val="E2E8F0"/>
                </a:solidFill>
                <a:latin typeface="Calibri"/>
              </a:rPr>
              <a:t> in Remote Therapeutic Monitoring codes (98975/98977).</a:t>
            </a:r>
          </a:p>
          <a:p>
            <a:pPr algn="l">
              <a:lnSpc>
                <a:spcPct val="115000"/>
              </a:lnSpc>
            </a:pPr>
            <a:r>
              <a:rPr sz="1450" b="0" i="0">
                <a:solidFill>
                  <a:srgbClr val="E2E8F0"/>
                </a:solidFill>
                <a:latin typeface="Calibri"/>
              </a:rPr>
              <a:t>The software pays for itself after 1–3 monitored patients.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09160"/>
            <a:ext cx="10607040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892040"/>
            <a:ext cx="10149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F172A"/>
                </a:solidFill>
                <a:latin typeface="Calibri"/>
              </a:rPr>
              <a:t>Why now: </a:t>
            </a:r>
            <a:r>
              <a:rPr sz="1550" b="0" i="0">
                <a:solidFill>
                  <a:srgbClr val="0F172A"/>
                </a:solidFill>
                <a:latin typeface="Calibri"/>
              </a:rPr>
              <a:t>telehealth PT utilization is structurally higher post-COVID, and the 2026 CMS therapy code list expanded remote-monitoring billing. The reimbursement tailwind is our “who pays, and why today” answer.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Everyone tracks completion. We score quality.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515599" cy="30906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3749039"/>
                <a:gridCol w="3931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Player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What they do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Calibri"/>
                        </a:rPr>
                        <a:t>Where RehabLens wins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Sword Health / Hinge Health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Digital MSK for self-insured employers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Hardware-free, open, priced for independent clinics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Kaia Health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Guided exercise video apps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Objective movement-quality scoring from a plain camera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Physitrack / Medbridge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Prescribe &amp; track exercise completion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Track quality, not just “done”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Wearable motion sensors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Rep counting with extra hardware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Zero hardware cost and friction; visual form feedback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120640"/>
            <a:ext cx="10515600" cy="91440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3218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D9488"/>
                </a:solidFill>
                <a:latin typeface="Calibri"/>
              </a:rPr>
              <a:t>Positioning: </a:t>
            </a:r>
            <a:r>
              <a:rPr sz="1600" b="0" i="0">
                <a:solidFill>
                  <a:srgbClr val="0F172A"/>
                </a:solidFill>
                <a:latin typeface="Calibri"/>
              </a:rPr>
              <a:t>“The quality layer that existing home-exercise platforms are missing — sequence-aware, camera-based, and priced for the independent clinic.”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Sane unit economics and an honest three years.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420624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Unit economics (per clinic, steady state)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Monthly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Revenue — clinic subscription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$149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Hosting + inference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Support &amp; onboarding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$10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Payments / processing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Calibri"/>
                        </a:rPr>
                        <a:t>Gross margin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0F172A"/>
                          </a:solidFill>
                          <a:latin typeface="Calibri"/>
                        </a:rPr>
                        <a:t>≈ 85%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577840" y="18288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Calibri"/>
              </a:rPr>
              <a:t>Annual recurring revenue (end of year)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577840" y="2240280"/>
          <a:ext cx="594360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2960" y="4709160"/>
            <a:ext cx="10607040" cy="12801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846320"/>
            <a:ext cx="101498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F172A"/>
                </a:solidFill>
                <a:latin typeface="Calibri"/>
              </a:rPr>
              <a:t>Assumptions: </a:t>
            </a:r>
            <a:r>
              <a:rPr sz="1400" b="0" i="0">
                <a:solidFill>
                  <a:srgbClr val="0F172A"/>
                </a:solidFill>
                <a:latin typeface="Calibri"/>
              </a:rPr>
              <a:t>pricing held flat; 10%/yr churn; no founder salaries in years 1–2; 20 clinics by year 1, 120 by year 2, 500 by year 3. CAC ≈ $400/clinic → ~3-month payback, LTV:CAC ≈ 11. All subscription revenue — white-label and insurer channels are roadmap upside, not forecast.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SAFETY &amp; ETHICS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We turn our limitations into our safety case.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074920" cy="4114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461772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What RehabLens is NOT</a:t>
            </a:r>
          </a:p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E2E8F0"/>
                </a:solidFill>
                <a:latin typeface="Calibri"/>
              </a:rPr>
              <a:t>✕  Not a medical device
✕  Not a diagnosis or prescription
✕  Not proof an exercise is safe
✕  Not a substitute for a physical therapist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120640"/>
            <a:ext cx="4617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14B8A6"/>
                </a:solidFill>
                <a:latin typeface="Calibri"/>
              </a:rPr>
              <a:t>Scores are “check with your therapist” flags — </a:t>
            </a:r>
            <a:r>
              <a:rPr sz="1400" b="1" i="0">
                <a:solidFill>
                  <a:srgbClr val="FFFFFF"/>
                </a:solidFill>
                <a:latin typeface="Calibri"/>
              </a:rPr>
              <a:t>never advice to push through pain.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0" y="1828800"/>
          <a:ext cx="525780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146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Known limitation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Our mitigation</a:t>
                      </a:r>
                    </a:p>
                  </a:txBody>
                  <a:tcPr marL="73152" marR="73152" marT="27432" marB="27432" anchor="ctr">
                    <a:solidFill>
                      <a:srgbClr val="0F172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Calibri"/>
                        </a:rPr>
                        <a:t>2D camera: depth ambiguity, occlusion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F172A"/>
                          </a:solidFill>
                          <a:latin typeface="Calibri"/>
                        </a:rPr>
                        <a:t>Confidence-gated scoring — uncertain joints are excluded, never guessed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Calibri"/>
                        </a:rPr>
                        <a:t>Trained on one demonstrator today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F172A"/>
                          </a:solidFill>
                          <a:latin typeface="Calibri"/>
                        </a:rPr>
                        <a:t>Consented multi-participant dataset, participant-split validation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Calibri"/>
                        </a:rPr>
                        <a:t>Form feedback could mislead a patient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F172A"/>
                          </a:solidFill>
                          <a:latin typeface="Calibri"/>
                        </a:rPr>
                        <a:t>Fail-soft design: unclear view → “no score”, never wrong advice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Calibri"/>
                        </a:rPr>
                        <a:t>Privacy risk from video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F172A"/>
                          </a:solidFill>
                          <a:latin typeface="Calibri"/>
                        </a:rPr>
                        <a:t>On-device processing; only anonymized metrics reach the clinic</a:t>
                      </a:r>
                    </a:p>
                  </a:txBody>
                  <a:tcPr marL="73152" marR="73152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F172A"/>
                          </a:solidFill>
                          <a:latin typeface="Calibri"/>
                        </a:rPr>
                        <a:t>Reimbursement rules vary by payer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0F172A"/>
                          </a:solidFill>
                          <a:latin typeface="Calibri"/>
                        </a:rPr>
                        <a:t>RTM tier ships with billing documentation; validated by a pilot clinic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126480" y="5349240"/>
            <a:ext cx="5257800" cy="548640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0D9488"/>
                </a:solidFill>
                <a:latin typeface="Calibri"/>
              </a:rPr>
              <a:t>Validation target: Cohen's κ ≥ 0.6 vs clinician labels before pilot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D9488"/>
                </a:solidFill>
                <a:latin typeface="Calibri"/>
              </a:rPr>
              <a:t>ROADMAP &amp; 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0F172A"/>
                </a:solidFill>
                <a:latin typeface="Calibri"/>
              </a:rPr>
              <a:t>Twelve months from prototype to pilot data.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371600" cy="381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148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D9488"/>
                </a:solidFill>
                <a:latin typeface="Calibri"/>
              </a:rPr>
              <a:t>M 0–3</a:t>
            </a:r>
          </a:p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0F172A"/>
                </a:solidFill>
                <a:latin typeface="Calibri"/>
              </a:rPr>
              <a:t>Evidence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Pilot clinic partner; first consented multi-participant dataset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82880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CCFBF1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011680"/>
            <a:ext cx="2148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D9488"/>
                </a:solidFill>
                <a:latin typeface="Calibri"/>
              </a:rPr>
              <a:t>M 4–8</a:t>
            </a:r>
          </a:p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0F172A"/>
                </a:solidFill>
                <a:latin typeface="Calibri"/>
              </a:rPr>
              <a:t>Validation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4748B"/>
                </a:solidFill>
                <a:latin typeface="Calibri"/>
              </a:rPr>
              <a:t>Participant-split retrain; report κ vs clinician labels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2880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2148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M 9–12</a:t>
            </a:r>
          </a:p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Pilot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E2E8F0"/>
                </a:solidFill>
                <a:latin typeface="Calibri"/>
              </a:rPr>
              <a:t>2-clinic, 3-month pilot; measure adherence &amp; ROM deltas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1828800"/>
            <a:ext cx="2514600" cy="21945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98280" y="2011680"/>
            <a:ext cx="2148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4B8A6"/>
                </a:solidFill>
                <a:latin typeface="Calibri"/>
              </a:rPr>
              <a:t>M 12–24</a:t>
            </a:r>
          </a:p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FFFFFF"/>
                </a:solidFill>
                <a:latin typeface="Calibri"/>
              </a:rPr>
              <a:t>Launch</a:t>
            </a:r>
          </a:p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E2E8F0"/>
                </a:solidFill>
                <a:latin typeface="Calibri"/>
              </a:rPr>
              <a:t>$149/mo commercial tier; target 120 paying clinics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10515600" cy="155448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F172A"/>
                </a:solidFill>
                <a:latin typeface="Calibri"/>
              </a:rPr>
              <a:t>What we need from you: 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F172A"/>
                </a:solidFill>
                <a:latin typeface="Calibri"/>
              </a:rPr>
              <a:t>1) One physical therapist to critique our scoring — 30 minutes.   2) $5–10K for compute, HIPAA-capable hosting, and pilot materials.   3) Introductions to a local outpatient clinic.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RehabLens · Conrad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73952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4748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3464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 recovery deserves eyes between visits.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CBD5E1"/>
                </a:solidFill>
                <a:latin typeface="Calibri"/>
              </a:rPr>
              <a:t>RehabLens gives every physical-therapy patient a coach at home — with nothing but the camera they already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99F6E4"/>
                </a:solidFill>
                <a:latin typeface="Calibri"/>
              </a:rPr>
              <a:t>Try the live demo: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github.com/alicialiu540-oss/Conrad-project  →  demo/</a:t>
            </a:r>
          </a:p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94A3B8"/>
                </a:solidFill>
                <a:latin typeface="Calibri"/>
              </a:rPr>
              <a:t>Prototype: YOLO Pose + Siamese LSTM · 94.2% augmented-pair accuracy · MIT-licensed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CBD5E1"/>
                </a:solidFill>
                <a:latin typeface="Calibri"/>
              </a:rPr>
              <a:t>Thank you.   — [Team names], Health &amp; Nutrition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